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12952B-AC0A-4CC2-B746-5F9E44AFA044}" type="datetimeFigureOut">
              <a:rPr lang="en-GB" smtClean="0"/>
              <a:t>24/11/2024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24B997-41A3-4DFF-8C7A-A176216DD3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7527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24B997-41A3-4DFF-8C7A-A176216DD38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9436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1167A-E25A-5B12-4418-FDA7329BF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F9E400-FCED-A605-ACFC-99B71D3AD8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E7B579-9352-8388-EB97-AEA464FD04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F70133-6D59-AE30-E23A-7A1FF1CB11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24B997-41A3-4DFF-8C7A-A176216DD3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0499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16B1D-B6F2-C34A-4F21-D47E7775C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1CF963-A184-0C74-003D-E1BB83EB65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56ADD7-8DF9-8AAD-CFC7-929D4BCB8A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9D68B-C6B8-CCD7-707C-77E2D9211D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24B997-41A3-4DFF-8C7A-A176216DD38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2570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87918-B372-03CD-E03F-3B4E629453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DF5042-E8FF-F11B-BDCB-E6AD9FAF7B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0D9B0-6450-8477-FF8C-E71EA9692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E8B37-673D-482E-96BA-2E1DEE134EB4}" type="datetimeFigureOut">
              <a:rPr lang="en-GB" smtClean="0"/>
              <a:t>24/11/2024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7D16F-FBF6-118F-CD1F-27C4DF83F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FA545-ED95-0A71-FE2F-4E3BFEFAE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936E7-B681-489E-AAEE-E4C5FCDDDD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1151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789E3-CA84-616A-95F0-FDBF67184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FC20F-5DFC-6C89-41E8-64AC47D46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36880-D49E-4890-BB84-F9F67C253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E8B37-673D-482E-96BA-2E1DEE134EB4}" type="datetimeFigureOut">
              <a:rPr lang="en-GB" smtClean="0"/>
              <a:t>24/11/2024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A9893-1179-A905-45DC-96BDC34E1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9A116-F1C8-F849-3F0E-A8A98CD25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936E7-B681-489E-AAEE-E4C5FCDDDD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8087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FCAB5-CCB7-2D80-AC39-30B3B9B96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8267D1-4FCD-72EC-48A7-CDE4D7A86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51BE4-2023-2C95-6BF3-CCD8AA5E8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E8B37-673D-482E-96BA-2E1DEE134EB4}" type="datetimeFigureOut">
              <a:rPr lang="en-GB" smtClean="0"/>
              <a:t>24/11/2024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94D663-FFE4-C3CC-8E64-D42719DC3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0F127-06C8-EBC1-9D1B-4A2B11FD2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936E7-B681-489E-AAEE-E4C5FCDDDD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9740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2C688-B684-CDB8-A58D-6D35E1082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93BD0-4DF3-1672-3BE1-B6F9CEEC5F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8282F3-FC59-85F3-3149-1D62732E0F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B2DA78-AC65-7FF3-94B6-226A9B3DB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E8B37-673D-482E-96BA-2E1DEE134EB4}" type="datetimeFigureOut">
              <a:rPr lang="en-GB" smtClean="0"/>
              <a:t>24/11/2024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0190E5-6E22-1E29-F790-4B540A353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866569-4C11-EB56-A1F2-DEE220A80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936E7-B681-489E-AAEE-E4C5FCDDDD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9135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3F649-EA6A-B0AE-E5A7-AD9DC0BAE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01CED6-9685-6C7B-7712-6E5DF0104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5FF4A1-DF64-248B-5719-55D380AB74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6F8F45-587E-1597-048E-84077AC130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39A80F-A675-6DA0-DCF3-C401B4F493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67A0D2-A093-D52F-FE5B-51F04C63C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E8B37-673D-482E-96BA-2E1DEE134EB4}" type="datetimeFigureOut">
              <a:rPr lang="en-GB" smtClean="0"/>
              <a:t>24/11/2024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4823BE-ED53-87CF-A7D9-BB5B2FEEE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3BF879-8331-0F49-C5D2-82BDF8089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936E7-B681-489E-AAEE-E4C5FCDDDD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8066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1481A-B3D7-3048-AF22-86806A4B0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BA6FC9-AEB4-D57F-8245-705656E3C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E8B37-673D-482E-96BA-2E1DEE134EB4}" type="datetimeFigureOut">
              <a:rPr lang="en-GB" smtClean="0"/>
              <a:t>24/11/2024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5D31B1-E1FB-71F3-2482-880299356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E7468D-0E16-A0E2-BA92-565A6044B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936E7-B681-489E-AAEE-E4C5FCDDDD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1656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73B9E8-D063-A95B-EF67-26B86BD38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E8B37-673D-482E-96BA-2E1DEE134EB4}" type="datetimeFigureOut">
              <a:rPr lang="en-GB" smtClean="0"/>
              <a:t>24/11/2024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53211D-6102-8067-745D-5E8FFAA4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7669BD-9896-B2C9-B4B2-DF8FF45B3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936E7-B681-489E-AAEE-E4C5FCDDDD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9264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0753B-FEE6-ECFA-58AF-00094312D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B0B8A-F126-59F1-08D1-A547C0712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5A0BE5-D7D9-E872-485A-D93344797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4950CD-BDCA-41C0-FD3D-A76429E36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E8B37-673D-482E-96BA-2E1DEE134EB4}" type="datetimeFigureOut">
              <a:rPr lang="en-GB" smtClean="0"/>
              <a:t>24/11/2024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52882F-C082-6D1E-904A-B3F684353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847C84-040C-4F62-61E0-C14F4FA60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936E7-B681-489E-AAEE-E4C5FCDDDD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557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28D44-7204-D13D-38FA-77B9F8647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CBB11C-32FE-D031-52DD-FEB0BA4FC3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172943-3B0E-EC44-6249-FE5D9DCA82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C13849-7964-2B02-7D5D-9C1A8A722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E8B37-673D-482E-96BA-2E1DEE134EB4}" type="datetimeFigureOut">
              <a:rPr lang="en-GB" smtClean="0"/>
              <a:t>24/11/2024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501E50-C55D-9CA1-93D5-83B3F2D02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6EB8AE-F66A-A7DB-101E-7F2C1584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936E7-B681-489E-AAEE-E4C5FCDDDD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3984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3583B-05E1-6C83-8DA9-ABE7DB9EB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98855B-559C-CE06-62B1-054116190D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1E7B1-4143-44A3-2CAC-BB02D0DBB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E8B37-673D-482E-96BA-2E1DEE134EB4}" type="datetimeFigureOut">
              <a:rPr lang="en-GB" smtClean="0"/>
              <a:t>24/11/2024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8EDCE-15C9-B639-AA3E-DB6E7C093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A3710-710A-ADBB-D4C8-8348FE316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936E7-B681-489E-AAEE-E4C5FCDDDD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879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CA8527-EEA7-5637-60AB-EB5EDCF628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A57A7B-BF4B-F990-322A-FB4D21589A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6B4DA-0317-88A6-FFA5-268C95C0A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E8B37-673D-482E-96BA-2E1DEE134EB4}" type="datetimeFigureOut">
              <a:rPr lang="en-GB" smtClean="0"/>
              <a:t>24/11/2024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D84267-3384-5F1A-1601-6B257E8B9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39DDB-6107-F743-6DAC-2FE534728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936E7-B681-489E-AAEE-E4C5FCDDDD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8062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D8DC5B-FBF4-52A0-B97B-28A72B3FF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3F5AEF-7169-39B8-556E-C90CCA092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5EA00-6EF9-E736-9E2B-33BE4D6560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BE8B37-673D-482E-96BA-2E1DEE134EB4}" type="datetimeFigureOut">
              <a:rPr lang="en-GB" smtClean="0"/>
              <a:t>24/11/2024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3118F-5A82-E4E1-E664-9DB56A7468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64778-1023-4FBF-0D80-6ABC408384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A936E7-B681-489E-AAEE-E4C5FCDDDD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9181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pyroscience.com/en/products/laboratory-solutions/oxygen-sensors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files.atlas-scientific.com/DO_EZO_Datasheet.pd" TargetMode="External"/><Relationship Id="rId7" Type="http://schemas.openxmlformats.org/officeDocument/2006/relationships/image" Target="../media/image6.png"/><Relationship Id="rId2" Type="http://schemas.openxmlformats.org/officeDocument/2006/relationships/hyperlink" Target="https://atlas-scientific.com/kits/dissolved-oxygen-kit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hyperlink" Target="https://atlas-scientific.com/ph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.dfrobot.com/Gravity__Analog_pH_Sensor_Meter_Kit_V2_SKU_SEN0161-V2" TargetMode="External"/><Relationship Id="rId2" Type="http://schemas.openxmlformats.org/officeDocument/2006/relationships/hyperlink" Target="https://www.berrybase.de/dfrobot-gravity-analoger-ph-sensor-meter-kit-v2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hyperlink" Target="https://www.dfrobot.com/blog-1138.html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azon.de/Karosserie-Elektrode-Steckdose-0-14pH-Wirtschaftlich/dp/B07KG2PQMN?dib=eyJ2IjoiMSJ9.SpVqgdl4DX3rj7LpQhHDXxIRmczj9A3VctxQrtkwNyawHxZOlvaaZ8bi045MNNwcHUFg259qcCno8P1dgLF3kPoRQyHN3f3P82JXKlFw2ok9Tpng9jWXMEUyhhidGZzrzhPF2wOGms0ggSyCEPRBUVnM9GtcTWKEF67Gnlt-jdz4pJ-XokDTgIHeD7fTYHalPeChq6yfwYExs362JAyHz5qJJ8BoUVi4nJz8ywXvkT3I-6FLg6rcRJuuNfGE2oJ9q9n9vxUDZLdZzwjMyMS7A7OAJutCDkfXSnF3ho6B1vs.AP-DaYv2G3ikjQ4uvJKBispTqf12dkoS295jaldI6jE&amp;dib_tag=se&amp;keywords=ph+sensor+arduino&amp;qid=1732464546&amp;sr=8-8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azon.de/DFRobot-SEN0189-Gravity-Analog-Turbidity/dp/B075T3CVH6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hyperlink" Target="http://www.farnell.com/datasheets/2700162.pdf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parkfun.com/products/15050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1900D-8475-B019-6958-D8A4485862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3513" y="277536"/>
            <a:ext cx="5954487" cy="1011237"/>
          </a:xfrm>
        </p:spPr>
        <p:txBody>
          <a:bodyPr/>
          <a:lstStyle/>
          <a:p>
            <a:r>
              <a:rPr lang="en-GB" dirty="0" err="1">
                <a:hlinkClick r:id="rId2"/>
              </a:rPr>
              <a:t>PyroSience</a:t>
            </a:r>
            <a:endParaRPr lang="en-GB" dirty="0">
              <a:hlinkClick r:id="rId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596A11-A47F-7B2F-9FBA-FB04ABBFC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372" y="783154"/>
            <a:ext cx="3443763" cy="242166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128F9A7-DC54-D677-3ED5-B53177EEF543}"/>
              </a:ext>
            </a:extLst>
          </p:cNvPr>
          <p:cNvSpPr txBox="1">
            <a:spLocks/>
          </p:cNvSpPr>
          <p:nvPr/>
        </p:nvSpPr>
        <p:spPr>
          <a:xfrm>
            <a:off x="60488" y="42311"/>
            <a:ext cx="3443764" cy="6640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400" dirty="0"/>
              <a:t>Dissolved O2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FA9AC4-4FE1-A31E-9134-192DBE51C1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0060" y="4896796"/>
            <a:ext cx="2201940" cy="1918893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00AF875-F3FB-5F5C-B09F-52D3E097E223}"/>
              </a:ext>
            </a:extLst>
          </p:cNvPr>
          <p:cNvSpPr txBox="1">
            <a:spLocks/>
          </p:cNvSpPr>
          <p:nvPr/>
        </p:nvSpPr>
        <p:spPr>
          <a:xfrm>
            <a:off x="4713513" y="2447343"/>
            <a:ext cx="7228115" cy="39752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GB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28089EE-4738-97A6-DFF0-9F80DCA6C7E4}"/>
              </a:ext>
            </a:extLst>
          </p:cNvPr>
          <p:cNvSpPr txBox="1">
            <a:spLocks/>
          </p:cNvSpPr>
          <p:nvPr/>
        </p:nvSpPr>
        <p:spPr>
          <a:xfrm>
            <a:off x="5487466" y="1391478"/>
            <a:ext cx="6355501" cy="47698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GB" sz="2400" dirty="0"/>
              <a:t>If not sponsored 450€ a Sensor + 300€ for 6 spots + Extra Hardware required BUT they did sponsor 75% + gave some for free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GB" sz="2400" dirty="0"/>
              <a:t>Not on the Website!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GB" sz="2400" dirty="0"/>
              <a:t>Small Footprint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GB" sz="2400" dirty="0"/>
              <a:t>Also measures ambient  UV light, ambient  pressure, ambient  temperature &amp; ambient  humidity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GB" sz="2400" dirty="0"/>
              <a:t>UART based. Software (in C) </a:t>
            </a:r>
            <a:r>
              <a:rPr lang="en-GB" sz="2400" dirty="0" err="1"/>
              <a:t>exisiting</a:t>
            </a:r>
            <a:endParaRPr lang="en-GB" sz="2400" dirty="0"/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GB" sz="2400" dirty="0"/>
              <a:t>Maybe for free from </a:t>
            </a:r>
            <a:r>
              <a:rPr lang="en-GB" sz="2400" dirty="0" err="1"/>
              <a:t>SpiCy</a:t>
            </a:r>
            <a:r>
              <a:rPr lang="en-GB" sz="2400" dirty="0"/>
              <a:t> in February?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GB" sz="2400" dirty="0"/>
              <a:t>Non intrusive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GB" sz="2400" dirty="0"/>
              <a:t>Also available for PH &amp; Temperature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en-GB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EB9E24-8438-AB45-F508-554F54F48F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104346"/>
            <a:ext cx="5487467" cy="331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973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AD560-C1D3-9CB2-E09D-177360DAC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5AA6B-6772-0591-56AE-577840084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3513" y="277536"/>
            <a:ext cx="5954487" cy="1011237"/>
          </a:xfrm>
        </p:spPr>
        <p:txBody>
          <a:bodyPr/>
          <a:lstStyle/>
          <a:p>
            <a:r>
              <a:rPr lang="en-GB" dirty="0" err="1">
                <a:hlinkClick r:id="rId2"/>
              </a:rPr>
              <a:t>AtlasScientific</a:t>
            </a:r>
            <a:endParaRPr lang="en-GB" dirty="0">
              <a:hlinkClick r:id="rId2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07857A3-C1E7-1DC7-8371-D354155009AB}"/>
              </a:ext>
            </a:extLst>
          </p:cNvPr>
          <p:cNvSpPr txBox="1">
            <a:spLocks/>
          </p:cNvSpPr>
          <p:nvPr/>
        </p:nvSpPr>
        <p:spPr>
          <a:xfrm>
            <a:off x="60488" y="42311"/>
            <a:ext cx="3443764" cy="6640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400" dirty="0"/>
              <a:t>Dissolved O2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66D9C39-4937-4201-59C5-9FCE2F85B40C}"/>
              </a:ext>
            </a:extLst>
          </p:cNvPr>
          <p:cNvSpPr txBox="1">
            <a:spLocks/>
          </p:cNvSpPr>
          <p:nvPr/>
        </p:nvSpPr>
        <p:spPr>
          <a:xfrm>
            <a:off x="4713513" y="2447343"/>
            <a:ext cx="7228115" cy="39752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GB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47C186B-7164-811E-BBDE-283EB08A2B60}"/>
              </a:ext>
            </a:extLst>
          </p:cNvPr>
          <p:cNvSpPr txBox="1">
            <a:spLocks/>
          </p:cNvSpPr>
          <p:nvPr/>
        </p:nvSpPr>
        <p:spPr>
          <a:xfrm>
            <a:off x="4539343" y="1158949"/>
            <a:ext cx="7315200" cy="50023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GB" sz="2400" dirty="0"/>
              <a:t>354€ for full kit, probe 160€ I got one we can use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GB" sz="2400" dirty="0"/>
              <a:t>Quite huge (12cm), made for pipes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GB" sz="2400" dirty="0"/>
              <a:t>UART &amp; I2C based. Very pleasant in terms of software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GB" sz="2400" dirty="0"/>
              <a:t>Intrusive, uses up a bit </a:t>
            </a:r>
            <a:r>
              <a:rPr lang="en-US" sz="2400" dirty="0"/>
              <a:t>of oxygen (60ml/min , </a:t>
            </a:r>
            <a:r>
              <a:rPr lang="en-US" sz="2400" dirty="0">
                <a:hlinkClick r:id="rId3"/>
              </a:rPr>
              <a:t>https://files.atlas-scientific.com/DO_EZO_Datasheet.pdf </a:t>
            </a:r>
            <a:r>
              <a:rPr lang="en-US" sz="2400" dirty="0"/>
              <a:t>page 70)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GB" sz="2400" dirty="0">
                <a:hlinkClick r:id="rId4"/>
              </a:rPr>
              <a:t>Also available for PH</a:t>
            </a:r>
            <a:r>
              <a:rPr lang="en-GB" sz="2400" dirty="0"/>
              <a:t>(175€ kit 40€ sensor) &amp; Temperature</a:t>
            </a:r>
            <a:r>
              <a:rPr lang="en-US" sz="2400" dirty="0"/>
              <a:t> </a:t>
            </a:r>
            <a:endParaRPr lang="en-GB" sz="2400" dirty="0"/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en-GB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2443BF-29D7-F4F9-F1EB-14C23F3856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5037" y="4522894"/>
            <a:ext cx="2429059" cy="21915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C45791B-D144-85C2-6765-2506A5EFB5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18" y="1514191"/>
            <a:ext cx="4355840" cy="452440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7D0960E-FD3F-8455-BC4A-E917577433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9959" y="4760476"/>
            <a:ext cx="4238900" cy="18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9AAC2-7F7F-3086-1BAC-1EADF3E5B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8195B-B4D7-05AB-8CFC-F6CBC2C114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3513" y="277536"/>
            <a:ext cx="5954487" cy="1011237"/>
          </a:xfrm>
        </p:spPr>
        <p:txBody>
          <a:bodyPr/>
          <a:lstStyle/>
          <a:p>
            <a:r>
              <a:rPr lang="en-GB" dirty="0">
                <a:hlinkClick r:id="rId2"/>
              </a:rPr>
              <a:t>Gravity</a:t>
            </a:r>
            <a:endParaRPr lang="en-GB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1602DDB-A395-72D5-EF9E-E03C27E365DA}"/>
              </a:ext>
            </a:extLst>
          </p:cNvPr>
          <p:cNvSpPr txBox="1">
            <a:spLocks/>
          </p:cNvSpPr>
          <p:nvPr/>
        </p:nvSpPr>
        <p:spPr>
          <a:xfrm>
            <a:off x="60488" y="42311"/>
            <a:ext cx="3443764" cy="6640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400" dirty="0"/>
              <a:t>PH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C40CB90-9407-CAD2-E264-5DB480AC9363}"/>
              </a:ext>
            </a:extLst>
          </p:cNvPr>
          <p:cNvSpPr txBox="1">
            <a:spLocks/>
          </p:cNvSpPr>
          <p:nvPr/>
        </p:nvSpPr>
        <p:spPr>
          <a:xfrm>
            <a:off x="4713513" y="2447343"/>
            <a:ext cx="7228115" cy="39752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GB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8D63C5C-D1C7-22A6-A72C-2C7893BC100C}"/>
              </a:ext>
            </a:extLst>
          </p:cNvPr>
          <p:cNvSpPr txBox="1">
            <a:spLocks/>
          </p:cNvSpPr>
          <p:nvPr/>
        </p:nvSpPr>
        <p:spPr>
          <a:xfrm>
            <a:off x="5337543" y="1391478"/>
            <a:ext cx="6516999" cy="47698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GB" sz="2400" dirty="0"/>
              <a:t>47,80€ 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GB" sz="2400" dirty="0"/>
              <a:t>Analog Signal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GB" sz="2400" dirty="0">
                <a:hlinkClick r:id="rId3"/>
              </a:rPr>
              <a:t>https://wiki.dfrobot.com/Gravity__Analog_pH_Sensor_Meter_Kit_V2_SKU_SEN0161-V2</a:t>
            </a:r>
            <a:endParaRPr lang="en-GB" sz="2400" dirty="0"/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GB" sz="2400" dirty="0"/>
              <a:t>There are better versions available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GB" sz="2400" dirty="0">
                <a:hlinkClick r:id="rId4"/>
              </a:rPr>
              <a:t>https://www.dfrobot.com/blog-1138.htm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GB" sz="2400" dirty="0">
                <a:hlinkClick r:id="rId4"/>
              </a:rPr>
              <a:t>https://www.mouser.de/ProductDetail/DFRobot/SEN0169?qs=lqAf%2FiVYw9h7p9WXQvmXEQ%3D%3D&amp;mgh=1&amp;vip=1&amp;srsltid=AfmBOopwmsmAfMMLqLApefzCYbJ93YjBi-50N7S2uCjpQjift9l-HvWDkNI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GB" sz="2400" dirty="0">
                <a:hlinkClick r:id="rId4"/>
              </a:rPr>
              <a:t>l</a:t>
            </a:r>
            <a:endParaRPr lang="en-GB" sz="2400" dirty="0"/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en-GB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60359A-BB80-1ECE-3496-4168B468F5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88" y="3419775"/>
            <a:ext cx="5110226" cy="327494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97C9D01-86C0-5F2C-016E-F670D35EADC7}"/>
              </a:ext>
            </a:extLst>
          </p:cNvPr>
          <p:cNvSpPr txBox="1">
            <a:spLocks/>
          </p:cNvSpPr>
          <p:nvPr/>
        </p:nvSpPr>
        <p:spPr>
          <a:xfrm>
            <a:off x="250372" y="1601289"/>
            <a:ext cx="3168849" cy="11585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400" dirty="0"/>
              <a:t>0-14PH</a:t>
            </a:r>
          </a:p>
          <a:p>
            <a:pPr algn="l"/>
            <a:r>
              <a:rPr lang="en-GB" sz="2400" dirty="0"/>
              <a:t>0.1 PH accuracy, I think?</a:t>
            </a:r>
          </a:p>
        </p:txBody>
      </p:sp>
    </p:spTree>
    <p:extLst>
      <p:ext uri="{BB962C8B-B14F-4D97-AF65-F5344CB8AC3E}">
        <p14:creationId xmlns:p14="http://schemas.microsoft.com/office/powerpoint/2010/main" val="2380901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D194B-BE9C-06FD-F8A5-B7A0647DE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49D98-BDC5-1D77-5C95-479445256E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3513" y="277536"/>
            <a:ext cx="7141030" cy="1011237"/>
          </a:xfrm>
        </p:spPr>
        <p:txBody>
          <a:bodyPr>
            <a:normAutofit/>
          </a:bodyPr>
          <a:lstStyle/>
          <a:p>
            <a:r>
              <a:rPr lang="en-GB" dirty="0">
                <a:hlinkClick r:id="rId3"/>
              </a:rPr>
              <a:t>Average Amazon Trash</a:t>
            </a:r>
            <a:endParaRPr lang="en-GB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FA0B2FE-E4BF-E746-8391-DF7A74F21B78}"/>
              </a:ext>
            </a:extLst>
          </p:cNvPr>
          <p:cNvSpPr txBox="1">
            <a:spLocks/>
          </p:cNvSpPr>
          <p:nvPr/>
        </p:nvSpPr>
        <p:spPr>
          <a:xfrm>
            <a:off x="60488" y="42311"/>
            <a:ext cx="3443764" cy="6640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400" dirty="0"/>
              <a:t>PH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1DECE0E-FA05-1C39-6C1C-9D981CCB2506}"/>
              </a:ext>
            </a:extLst>
          </p:cNvPr>
          <p:cNvSpPr txBox="1">
            <a:spLocks/>
          </p:cNvSpPr>
          <p:nvPr/>
        </p:nvSpPr>
        <p:spPr>
          <a:xfrm>
            <a:off x="4713513" y="2447343"/>
            <a:ext cx="7228115" cy="39752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GB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5A4FA00-5EF8-5F51-402E-AD1845390332}"/>
              </a:ext>
            </a:extLst>
          </p:cNvPr>
          <p:cNvSpPr txBox="1">
            <a:spLocks/>
          </p:cNvSpPr>
          <p:nvPr/>
        </p:nvSpPr>
        <p:spPr>
          <a:xfrm>
            <a:off x="4539343" y="1391478"/>
            <a:ext cx="7315200" cy="47698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GB" sz="2400" dirty="0"/>
              <a:t>26,99€ 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GB" sz="2400" dirty="0"/>
              <a:t>Analog Signal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GB" sz="2400" dirty="0"/>
              <a:t>https://wiki.dfrobot.com/Gravity__Analog_pH_Sensor_Meter_Kit_V2_SKU_SEN0161-V2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en-GB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DC5556-2753-C503-692F-41C57140E2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4451" y="3072810"/>
            <a:ext cx="6625255" cy="33417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5C65E0-C6CB-130D-CD29-F65D76D4BC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705" y="1188570"/>
            <a:ext cx="4391638" cy="497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287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65187-2073-8696-0F23-28DBDE4B0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6A604-3DF9-E44C-F224-BFA7027404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3513" y="277536"/>
            <a:ext cx="7141030" cy="1011237"/>
          </a:xfrm>
        </p:spPr>
        <p:txBody>
          <a:bodyPr>
            <a:normAutofit/>
          </a:bodyPr>
          <a:lstStyle/>
          <a:p>
            <a:r>
              <a:rPr lang="de-DE" b="1" dirty="0">
                <a:hlinkClick r:id="rId3"/>
              </a:rPr>
              <a:t>Gravity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6E78457-3B3C-F4C8-D2F8-E56F9AA7709A}"/>
              </a:ext>
            </a:extLst>
          </p:cNvPr>
          <p:cNvSpPr txBox="1">
            <a:spLocks/>
          </p:cNvSpPr>
          <p:nvPr/>
        </p:nvSpPr>
        <p:spPr>
          <a:xfrm>
            <a:off x="60488" y="42311"/>
            <a:ext cx="3443764" cy="6640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400" dirty="0"/>
              <a:t>Turbidity / optical density Sensor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6F50D2E-5A7D-4FAD-005A-4CCDAEB0EC65}"/>
              </a:ext>
            </a:extLst>
          </p:cNvPr>
          <p:cNvSpPr txBox="1">
            <a:spLocks/>
          </p:cNvSpPr>
          <p:nvPr/>
        </p:nvSpPr>
        <p:spPr>
          <a:xfrm>
            <a:off x="4713513" y="2447343"/>
            <a:ext cx="7228115" cy="39752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GB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75CE03C-CF8D-E12F-3C60-9F5E61C15826}"/>
              </a:ext>
            </a:extLst>
          </p:cNvPr>
          <p:cNvSpPr txBox="1">
            <a:spLocks/>
          </p:cNvSpPr>
          <p:nvPr/>
        </p:nvSpPr>
        <p:spPr>
          <a:xfrm>
            <a:off x="4539343" y="1391478"/>
            <a:ext cx="7315200" cy="47698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GB" sz="2400" dirty="0"/>
              <a:t>23€ amazon 8,3€ Farnell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GB" sz="2400" dirty="0"/>
              <a:t>Analog Signal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GB" sz="2400" dirty="0">
                <a:hlinkClick r:id="rId4"/>
              </a:rPr>
              <a:t>http://www.farnell.com/datasheets/2700162.pdf</a:t>
            </a:r>
            <a:endParaRPr lang="en-GB" sz="2400" dirty="0"/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en-GB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D4B349-6B6B-9DCF-A4AF-CB10A3E886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372" y="783154"/>
            <a:ext cx="3918578" cy="33310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F17FF1-DAB1-6B8F-941E-1C28D3F2B5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593" y="4190997"/>
            <a:ext cx="3076419" cy="262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688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15A0B-8BAE-7B5B-578E-10A9311FF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F6AA8-0EBA-C3F3-05D3-D02BB8D12F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3513" y="277536"/>
            <a:ext cx="7141030" cy="1011237"/>
          </a:xfrm>
        </p:spPr>
        <p:txBody>
          <a:bodyPr>
            <a:normAutofit/>
          </a:bodyPr>
          <a:lstStyle/>
          <a:p>
            <a:r>
              <a:rPr lang="de-DE" b="1" dirty="0">
                <a:hlinkClick r:id="rId3"/>
              </a:rPr>
              <a:t>AS7265x</a:t>
            </a:r>
            <a:endParaRPr lang="de-DE" b="1" dirty="0"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18290DB-3EF4-D9AE-3462-752B7A8244E6}"/>
              </a:ext>
            </a:extLst>
          </p:cNvPr>
          <p:cNvSpPr txBox="1">
            <a:spLocks/>
          </p:cNvSpPr>
          <p:nvPr/>
        </p:nvSpPr>
        <p:spPr>
          <a:xfrm>
            <a:off x="60488" y="42311"/>
            <a:ext cx="3443764" cy="6640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400" dirty="0"/>
              <a:t>Light </a:t>
            </a:r>
            <a:r>
              <a:rPr lang="en-GB" sz="4400" dirty="0" err="1"/>
              <a:t>spektrometer</a:t>
            </a:r>
            <a:endParaRPr lang="en-GB" sz="44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668ED66-FD06-2580-EF31-CD6343D97069}"/>
              </a:ext>
            </a:extLst>
          </p:cNvPr>
          <p:cNvSpPr txBox="1">
            <a:spLocks/>
          </p:cNvSpPr>
          <p:nvPr/>
        </p:nvSpPr>
        <p:spPr>
          <a:xfrm>
            <a:off x="4713513" y="2447343"/>
            <a:ext cx="7228115" cy="39752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GB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7A0B7BC-9EC4-A9E6-E8F7-9DF4F14E7D49}"/>
              </a:ext>
            </a:extLst>
          </p:cNvPr>
          <p:cNvSpPr txBox="1">
            <a:spLocks/>
          </p:cNvSpPr>
          <p:nvPr/>
        </p:nvSpPr>
        <p:spPr>
          <a:xfrm>
            <a:off x="4539343" y="1391478"/>
            <a:ext cx="7315200" cy="47698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GB" sz="2400" dirty="0"/>
              <a:t>69.95€ (~15€ per Sensor)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GB" sz="2400" dirty="0" err="1"/>
              <a:t>Sparkfun</a:t>
            </a:r>
            <a:r>
              <a:rPr lang="en-GB" sz="2400" dirty="0"/>
              <a:t> light </a:t>
            </a:r>
            <a:r>
              <a:rPr lang="en-GB" sz="2400" dirty="0" err="1"/>
              <a:t>spektrometers</a:t>
            </a:r>
            <a:endParaRPr lang="en-GB" sz="2400" dirty="0"/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2400" dirty="0"/>
              <a:t>can detect the light from 410nm (UV) to 940nm (IR)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2400" dirty="0"/>
              <a:t>18 individual light frequencies can be measured with precision down to 28.6 </a:t>
            </a:r>
            <a:r>
              <a:rPr lang="en-US" sz="2400" dirty="0" err="1"/>
              <a:t>nW</a:t>
            </a:r>
            <a:r>
              <a:rPr lang="en-US" sz="2400" dirty="0"/>
              <a:t>/cm2 and accuracy of +/-12%.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en-GB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927408-541E-9F2A-60DA-A6AA82AC4A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0166" y="3132811"/>
            <a:ext cx="5162391" cy="37251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13F21E0-AB45-EF60-DAEC-8173AB9330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40" y="1844749"/>
            <a:ext cx="4360418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681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362</Words>
  <Application>Microsoft Office PowerPoint</Application>
  <PresentationFormat>Widescreen</PresentationFormat>
  <Paragraphs>47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PyroSience</vt:lpstr>
      <vt:lpstr>AtlasScientific</vt:lpstr>
      <vt:lpstr>Gravity</vt:lpstr>
      <vt:lpstr>Average Amazon Trash</vt:lpstr>
      <vt:lpstr>Gravity</vt:lpstr>
      <vt:lpstr>AS7265x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Fynn Gewiese</dc:creator>
  <cp:lastModifiedBy>Fynn Gewiese</cp:lastModifiedBy>
  <cp:revision>2</cp:revision>
  <dcterms:created xsi:type="dcterms:W3CDTF">2024-11-24T15:42:07Z</dcterms:created>
  <dcterms:modified xsi:type="dcterms:W3CDTF">2024-11-24T18:10:48Z</dcterms:modified>
</cp:coreProperties>
</file>